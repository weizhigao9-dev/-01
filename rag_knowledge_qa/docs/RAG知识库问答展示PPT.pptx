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7543800" y="548640"/>
            <a:ext cx="3840480" cy="5486400"/>
          </a:xfrm>
          <a:prstGeom prst="rect">
            <a:avLst/>
          </a:prstGeom>
          <a:solidFill>
            <a:srgbClr val="F3F6FB"/>
          </a:solidFill>
          <a:ln w="12700">
            <a:solidFill>
              <a:srgbClr val="F3F6FB"/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685800" y="1005840"/>
            <a:ext cx="64922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200" b="1">
                <a:solidFill>
                  <a:srgbClr val="172033"/>
                </a:solidFill>
                <a:latin typeface="Microsoft YaHei"/>
                <a:ea typeface="Microsoft YaHei"/>
              </a:rPr>
              <a:t>RAG知识库问答助手</a:t>
            </a:r>
            <a:endParaRPr lang="zh-CN" sz="3200"/>
          </a:p>
        </p:txBody>
      </p:sp>
      <p:sp>
        <p:nvSpPr>
          <p:cNvPr id="4" name="TextBox 4"/>
          <p:cNvSpPr txBox="1"/>
          <p:nvPr/>
        </p:nvSpPr>
        <p:spPr>
          <a:xfrm>
            <a:off x="713232" y="1737360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400">
                <a:solidFill>
                  <a:srgbClr val="667085"/>
                </a:solidFill>
                <a:latin typeface="Microsoft YaHei"/>
                <a:ea typeface="Microsoft YaHei"/>
              </a:rPr>
              <a:t>人工智能通识课期末实践项目 · 第六类</a:t>
            </a:r>
            <a:endParaRPr lang="zh-CN" sz="1400"/>
          </a:p>
        </p:txBody>
      </p:sp>
      <p:sp>
        <p:nvSpPr>
          <p:cNvPr id="5" name="TextBox 5"/>
          <p:cNvSpPr txBox="1"/>
          <p:nvPr/>
        </p:nvSpPr>
        <p:spPr>
          <a:xfrm>
            <a:off x="7973568" y="1051560"/>
            <a:ext cx="283464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>核心成果</a:t>
            </a:r>
            <a:endParaRPr lang="zh-CN" sz="1700"/>
          </a:p>
          <a:p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700"/>
          </a:p>
          <a:p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>1  8000字以上知识库</a:t>
            </a:r>
            <a:endParaRPr lang="zh-CN" sz="1700"/>
          </a:p>
          <a:p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>2  LangChain RAG流水线</a:t>
            </a:r>
            <a:endParaRPr lang="zh-CN" sz="1700"/>
          </a:p>
          <a:p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>3  5个问题对比测试</a:t>
            </a:r>
            <a:endParaRPr lang="zh-CN" sz="1700"/>
          </a:p>
          <a:p>
            <a:r>
              <a:rPr lang="zh-CN" sz="1700" b="1">
                <a:solidFill>
                  <a:srgbClr val="172033"/>
                </a:solidFill>
                <a:latin typeface="Microsoft YaHei"/>
                <a:ea typeface="Microsoft YaHei"/>
              </a:rPr>
              <a:t>4  失败案例与改进</a:t>
            </a:r>
            <a:endParaRPr lang="zh-CN" sz="1700"/>
          </a:p>
        </p:txBody>
      </p:sp>
      <p:sp>
        <p:nvSpPr>
          <p:cNvPr id="6" name="TextBox 6"/>
          <p:cNvSpPr txBox="1"/>
          <p:nvPr/>
        </p:nvSpPr>
        <p:spPr>
          <a:xfrm>
            <a:off x="713232" y="5504688"/>
            <a:ext cx="594360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200">
                <a:solidFill>
                  <a:srgbClr val="667085"/>
                </a:solidFill>
                <a:latin typeface="Microsoft YaHei"/>
                <a:ea typeface="Microsoft YaHei"/>
              </a:rPr>
              <a:t>GitHub：https://github.com/weizhigao9-dev/-01</a:t>
            </a:r>
            <a:endParaRPr lang="zh-CN" sz="1200"/>
          </a:p>
          <a:p>
            <a:r>
              <a:rPr lang="zh-CN" sz="1200">
                <a:solidFill>
                  <a:srgbClr val="667085"/>
                </a:solidFill>
                <a:latin typeface="Microsoft YaHei"/>
                <a:ea typeface="Microsoft YaHei"/>
              </a:rPr>
              <a:t>姓名/学号：请替换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38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为什么做 RAG</a:t>
            </a:r>
            <a:endParaRPr lang="zh-CN" sz="2400"/>
          </a:p>
        </p:txBody>
      </p:sp>
      <p:sp>
        <p:nvSpPr>
          <p:cNvPr id="3" name="TextBox 3"/>
          <p:cNvSpPr txBox="1"/>
          <p:nvPr/>
        </p:nvSpPr>
        <p:spPr>
          <a:xfrm>
            <a:off x="621792" y="87782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00">
                <a:solidFill>
                  <a:srgbClr val="667085"/>
                </a:solidFill>
                <a:latin typeface="Microsoft YaHei"/>
                <a:ea typeface="Microsoft YaHei"/>
              </a:rPr>
              <a:t>让通用模型基于自己的课程资料回答问题</a:t>
            </a:r>
            <a:endParaRPr lang="zh-CN" sz="1100"/>
          </a:p>
        </p:txBody>
      </p:sp>
      <p:sp>
        <p:nvSpPr>
          <p:cNvPr id="4" name="Rect 4"/>
          <p:cNvSpPr/>
          <p:nvPr/>
        </p:nvSpPr>
        <p:spPr>
          <a:xfrm>
            <a:off x="731520" y="1828800"/>
            <a:ext cx="3154680" cy="1920240"/>
          </a:xfrm>
          <a:prstGeom prst="rect">
            <a:avLst/>
          </a:prstGeom>
          <a:solidFill>
            <a:srgbClr val="F3F6FB"/>
          </a:solidFill>
          <a:ln w="12700">
            <a:solidFill>
              <a:srgbClr val="D9E1EC"/>
            </a:solidFill>
          </a:ln>
        </p:spPr>
      </p:sp>
      <p:sp>
        <p:nvSpPr>
          <p:cNvPr id="5" name="Rect 5"/>
          <p:cNvSpPr/>
          <p:nvPr/>
        </p:nvSpPr>
        <p:spPr>
          <a:xfrm>
            <a:off x="4480560" y="1828800"/>
            <a:ext cx="3154680" cy="1920240"/>
          </a:xfrm>
          <a:prstGeom prst="rect">
            <a:avLst/>
          </a:prstGeom>
          <a:solidFill>
            <a:srgbClr val="EAF2FF"/>
          </a:solidFill>
          <a:ln w="12700">
            <a:solidFill>
              <a:srgbClr val="D9E1EC"/>
            </a:solidFill>
          </a:ln>
        </p:spPr>
      </p:sp>
      <p:sp>
        <p:nvSpPr>
          <p:cNvPr id="6" name="Rect 6"/>
          <p:cNvSpPr/>
          <p:nvPr/>
        </p:nvSpPr>
        <p:spPr>
          <a:xfrm>
            <a:off x="8229600" y="1828800"/>
            <a:ext cx="3154680" cy="1920240"/>
          </a:xfrm>
          <a:prstGeom prst="rect">
            <a:avLst/>
          </a:prstGeom>
          <a:solidFill>
            <a:srgbClr val="F3F6FB"/>
          </a:solidFill>
          <a:ln w="12700">
            <a:solidFill>
              <a:srgbClr val="D9E1EC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0120" y="2176272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00" b="1">
                <a:solidFill>
                  <a:srgbClr val="172033"/>
                </a:solidFill>
                <a:latin typeface="Microsoft YaHei"/>
                <a:ea typeface="Microsoft YaHei"/>
              </a:rPr>
              <a:t>普通 LLM 容易给出通用但不可验证的答案</a:t>
            </a:r>
            <a:endParaRPr lang="zh-CN" sz="1600"/>
          </a:p>
        </p:txBody>
      </p:sp>
      <p:sp>
        <p:nvSpPr>
          <p:cNvPr id="8" name="TextBox 8"/>
          <p:cNvSpPr txBox="1"/>
          <p:nvPr/>
        </p:nvSpPr>
        <p:spPr>
          <a:xfrm>
            <a:off x="4709160" y="2176272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00" b="1">
                <a:solidFill>
                  <a:srgbClr val="172033"/>
                </a:solidFill>
                <a:latin typeface="Microsoft YaHei"/>
                <a:ea typeface="Microsoft YaHei"/>
              </a:rPr>
              <a:t>课程项目要求、评分标准、测试结果属于私有文档知识</a:t>
            </a:r>
            <a:endParaRPr lang="zh-CN" sz="1600"/>
          </a:p>
        </p:txBody>
      </p:sp>
      <p:sp>
        <p:nvSpPr>
          <p:cNvPr id="9" name="TextBox 9"/>
          <p:cNvSpPr txBox="1"/>
          <p:nvPr/>
        </p:nvSpPr>
        <p:spPr>
          <a:xfrm>
            <a:off x="8458200" y="2176272"/>
            <a:ext cx="26974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00" b="1">
                <a:solidFill>
                  <a:srgbClr val="172033"/>
                </a:solidFill>
                <a:latin typeface="Microsoft YaHei"/>
                <a:ea typeface="Microsoft YaHei"/>
              </a:rPr>
              <a:t>RAG 通过检索证据降低幻觉，并保留知识边界</a:t>
            </a:r>
            <a:endParaRPr lang="zh-CN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38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系统架构</a:t>
            </a:r>
            <a:endParaRPr lang="zh-CN" sz="2400"/>
          </a:p>
        </p:txBody>
      </p:sp>
      <p:sp>
        <p:nvSpPr>
          <p:cNvPr id="3" name="TextBox 3"/>
          <p:cNvSpPr txBox="1"/>
          <p:nvPr/>
        </p:nvSpPr>
        <p:spPr>
          <a:xfrm>
            <a:off x="621792" y="87782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00">
                <a:solidFill>
                  <a:srgbClr val="667085"/>
                </a:solidFill>
                <a:latin typeface="Microsoft YaHei"/>
                <a:ea typeface="Microsoft YaHei"/>
              </a:rPr>
              <a:t>文档加载 → 切分 → 向量化 → 检索 → 生成</a:t>
            </a:r>
            <a:endParaRPr lang="zh-CN" sz="1100"/>
          </a:p>
        </p:txBody>
      </p:sp>
      <p:sp>
        <p:nvSpPr>
          <p:cNvPr id="4" name="TextBox 4"/>
          <p:cNvSpPr txBox="1"/>
          <p:nvPr/>
        </p:nvSpPr>
        <p:spPr>
          <a:xfrm>
            <a:off x="777240" y="233172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100" b="1">
                <a:solidFill>
                  <a:srgbClr val="2463EB"/>
                </a:solidFill>
                <a:latin typeface="Microsoft YaHei"/>
                <a:ea typeface="Microsoft YaHei"/>
              </a:rPr>
              <a:t>课程资料  →  文本切分  →  向量数据库  →  Top-k检索  →  带证据回答</a:t>
            </a:r>
            <a:endParaRPr lang="zh-CN" sz="2100"/>
          </a:p>
        </p:txBody>
      </p:sp>
      <p:sp>
        <p:nvSpPr>
          <p:cNvPr id="5" name="TextBox 5"/>
          <p:cNvSpPr txBox="1"/>
          <p:nvPr/>
        </p:nvSpPr>
        <p:spPr>
          <a:xfrm>
            <a:off x="914400" y="3977639"/>
            <a:ext cx="9692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工具栈：LangChain / Chroma / HuggingFace Embeddings / DeepSeek API / Streamlit</a:t>
            </a:r>
            <a:endParaRPr lang="zh-CN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38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测试设计</a:t>
            </a:r>
            <a:endParaRPr lang="zh-CN" sz="2400"/>
          </a:p>
        </p:txBody>
      </p:sp>
      <p:sp>
        <p:nvSpPr>
          <p:cNvPr id="3" name="TextBox 3"/>
          <p:cNvSpPr txBox="1"/>
          <p:nvPr/>
        </p:nvSpPr>
        <p:spPr>
          <a:xfrm>
            <a:off x="621792" y="87782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00">
                <a:solidFill>
                  <a:srgbClr val="667085"/>
                </a:solidFill>
                <a:latin typeface="Microsoft YaHei"/>
                <a:ea typeface="Microsoft YaHei"/>
              </a:rPr>
              <a:t>3 个文档内问题 + 2 个文档外问题</a:t>
            </a:r>
            <a:endParaRPr lang="zh-CN" sz="1100"/>
          </a:p>
        </p:txBody>
      </p:sp>
      <p:sp>
        <p:nvSpPr>
          <p:cNvPr id="4" name="TextBox 4"/>
          <p:cNvSpPr txBox="1"/>
          <p:nvPr/>
        </p:nvSpPr>
        <p:spPr>
          <a:xfrm>
            <a:off x="868680" y="1572768"/>
            <a:ext cx="6858000" cy="3383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文档内：RAG 的基本流程是什么？</a:t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文档内：项目评分标准是什么？</a:t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文档内：chunk_size 参数有什么影响？</a:t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文档外：教师办公室具体地点？</a:t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文档外：某同学真实学号？</a:t>
            </a:r>
            <a:endParaRPr lang="zh-CN" sz="1600"/>
          </a:p>
        </p:txBody>
      </p:sp>
      <p:sp>
        <p:nvSpPr>
          <p:cNvPr id="5" name="Rect 5"/>
          <p:cNvSpPr/>
          <p:nvPr/>
        </p:nvSpPr>
        <p:spPr>
          <a:xfrm>
            <a:off x="8412480" y="1600200"/>
            <a:ext cx="2423160" cy="3090672"/>
          </a:xfrm>
          <a:prstGeom prst="rect">
            <a:avLst/>
          </a:prstGeom>
          <a:solidFill>
            <a:srgbClr val="F3F6FB"/>
          </a:solidFill>
          <a:ln w="12700">
            <a:solidFill>
              <a:srgbClr val="D9E1E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732520" y="1938528"/>
            <a:ext cx="17373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评价重点</a:t>
            </a:r>
            <a:endParaRPr lang="zh-CN" sz="1500"/>
          </a:p>
          <a:p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500"/>
          </a:p>
          <a:p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准确性</a:t>
            </a:r>
            <a:endParaRPr lang="zh-CN" sz="1500"/>
          </a:p>
          <a:p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可追溯性</a:t>
            </a:r>
            <a:endParaRPr lang="zh-CN" sz="1500"/>
          </a:p>
          <a:p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拒绝编造</a:t>
            </a:r>
            <a:endParaRPr lang="zh-CN" sz="1500"/>
          </a:p>
          <a:p>
            <a:r>
              <a:rPr lang="zh-CN" sz="1500" b="1">
                <a:solidFill>
                  <a:srgbClr val="172033"/>
                </a:solidFill>
                <a:latin typeface="Microsoft YaHei"/>
                <a:ea typeface="Microsoft YaHei"/>
              </a:rPr>
              <a:t>参数解释</a:t>
            </a:r>
            <a:endParaRPr lang="zh-CN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38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结果对比</a:t>
            </a:r>
            <a:endParaRPr lang="zh-CN" sz="2400"/>
          </a:p>
        </p:txBody>
      </p:sp>
      <p:sp>
        <p:nvSpPr>
          <p:cNvPr id="3" name="TextBox 3"/>
          <p:cNvSpPr txBox="1"/>
          <p:nvPr/>
        </p:nvSpPr>
        <p:spPr>
          <a:xfrm>
            <a:off x="621792" y="87782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00">
                <a:solidFill>
                  <a:srgbClr val="667085"/>
                </a:solidFill>
                <a:latin typeface="Microsoft YaHei"/>
                <a:ea typeface="Microsoft YaHei"/>
              </a:rPr>
              <a:t>RAG 在具体事实和知识边界上更可靠</a:t>
            </a:r>
            <a:endParaRPr lang="zh-CN" sz="1100"/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9966960" cy="3108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评分标准：普通LLM回答笼统；RAG给出30%/30%/20%/20%的明确比例。</a:t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chunk_size：普通LLM只讲一般规律；RAG解释200/500/1000的适用场景。</a:t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600"/>
          </a:p>
          <a:p>
            <a:r>
              <a:rPr lang="zh-CN" sz="1600">
                <a:solidFill>
                  <a:srgbClr val="172033"/>
                </a:solidFill>
                <a:latin typeface="Microsoft YaHei"/>
                <a:ea typeface="Microsoft YaHei"/>
              </a:rPr>
              <a:t>文档外问题：普通LLM可能猜测；RAG明确说明知识库中没有依据。</a:t>
            </a:r>
            <a:endParaRPr lang="zh-CN" sz="1600"/>
          </a:p>
        </p:txBody>
      </p:sp>
      <p:sp>
        <p:nvSpPr>
          <p:cNvPr id="5" name="TextBox 5"/>
          <p:cNvSpPr txBox="1"/>
          <p:nvPr/>
        </p:nvSpPr>
        <p:spPr>
          <a:xfrm>
            <a:off x="822960" y="4892040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00" b="1">
                <a:solidFill>
                  <a:srgbClr val="0F766E"/>
                </a:solidFill>
                <a:latin typeface="Microsoft YaHei"/>
                <a:ea typeface="Microsoft YaHei"/>
              </a:rPr>
              <a:t>结论：RAG 的价值不是“回答更长”，而是“回答有证据、边界更清楚”。</a:t>
            </a:r>
            <a:endParaRPr lang="zh-CN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38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失败案例与改进</a:t>
            </a:r>
            <a:endParaRPr lang="zh-CN" sz="2400"/>
          </a:p>
        </p:txBody>
      </p:sp>
      <p:sp>
        <p:nvSpPr>
          <p:cNvPr id="3" name="TextBox 3"/>
          <p:cNvSpPr txBox="1"/>
          <p:nvPr/>
        </p:nvSpPr>
        <p:spPr>
          <a:xfrm>
            <a:off x="621792" y="87782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00">
                <a:solidFill>
                  <a:srgbClr val="667085"/>
                </a:solidFill>
                <a:latin typeface="Microsoft YaHei"/>
                <a:ea typeface="Microsoft YaHei"/>
              </a:rPr>
              <a:t>把失败变成系统优化清单</a:t>
            </a:r>
            <a:endParaRPr lang="zh-CN" sz="1100"/>
          </a:p>
        </p:txBody>
      </p:sp>
      <p:sp>
        <p:nvSpPr>
          <p:cNvPr id="4" name="TextBox 4"/>
          <p:cNvSpPr txBox="1"/>
          <p:nvPr/>
        </p:nvSpPr>
        <p:spPr>
          <a:xfrm>
            <a:off x="914400" y="1691640"/>
            <a:ext cx="9326880" cy="320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检索不到：同义词表、query rewrite、更强中文 embedding</a:t>
            </a:r>
            <a:endParaRPr lang="zh-CN" sz="1700"/>
          </a:p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700"/>
          </a:p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检索到但答错：降低 temperature、来源编号、答案自检</a:t>
            </a:r>
            <a:endParaRPr lang="zh-CN" sz="1700"/>
          </a:p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700"/>
          </a:p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片段过长或过短：对比 chunk_size，按文档类型调参</a:t>
            </a:r>
            <a:endParaRPr lang="zh-CN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3891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2400" b="1">
                <a:solidFill>
                  <a:srgbClr val="172033"/>
                </a:solidFill>
                <a:latin typeface="Microsoft YaHei"/>
                <a:ea typeface="Microsoft YaHei"/>
              </a:rPr>
              <a:t>总结</a:t>
            </a:r>
            <a:endParaRPr lang="zh-CN" sz="2400"/>
          </a:p>
        </p:txBody>
      </p:sp>
      <p:sp>
        <p:nvSpPr>
          <p:cNvPr id="3" name="TextBox 3"/>
          <p:cNvSpPr txBox="1"/>
          <p:nvPr/>
        </p:nvSpPr>
        <p:spPr>
          <a:xfrm>
            <a:off x="621792" y="877824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100">
                <a:solidFill>
                  <a:srgbClr val="667085"/>
                </a:solidFill>
                <a:latin typeface="Microsoft YaHei"/>
                <a:ea typeface="Microsoft YaHei"/>
              </a:rPr>
              <a:t>完成要求，并保留可继续扩展的方向</a:t>
            </a:r>
            <a:endParaRPr lang="zh-CN" sz="1100"/>
          </a:p>
        </p:txBody>
      </p:sp>
      <p:sp>
        <p:nvSpPr>
          <p:cNvPr id="4" name="TextBox 4"/>
          <p:cNvSpPr txBox="1"/>
          <p:nvPr/>
        </p:nvSpPr>
        <p:spPr>
          <a:xfrm>
            <a:off x="868680" y="1691640"/>
            <a:ext cx="987552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已完成：8000字知识库、LangChain流水线、5题测试、普通LLM/RAG对比、失败分析、报告与PPT。</a:t>
            </a:r>
            <a:endParaRPr lang="zh-CN" sz="1700"/>
          </a:p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/>
            </a:r>
            <a:endParaRPr lang="zh-CN" sz="1700"/>
          </a:p>
          <a:p>
            <a:r>
              <a:rPr lang="zh-CN" sz="1700">
                <a:solidFill>
                  <a:srgbClr val="172033"/>
                </a:solidFill>
                <a:latin typeface="Microsoft YaHei"/>
                <a:ea typeface="Microsoft YaHei"/>
              </a:rPr>
              <a:t>后续优化：加入PDF/Word/网页解析、混合检索、重排序模型、真实API调用记录和自动评测。</a:t>
            </a:r>
            <a:endParaRPr lang="zh-CN" sz="1700"/>
          </a:p>
        </p:txBody>
      </p:sp>
      <p:sp>
        <p:nvSpPr>
          <p:cNvPr id="5" name="TextBox 5"/>
          <p:cNvSpPr txBox="1"/>
          <p:nvPr/>
        </p:nvSpPr>
        <p:spPr>
          <a:xfrm>
            <a:off x="868680" y="48006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zh-CN" sz="3000" b="1">
                <a:solidFill>
                  <a:srgbClr val="172033"/>
                </a:solidFill>
                <a:latin typeface="Microsoft YaHei"/>
                <a:ea typeface="Microsoft YaHei"/>
              </a:rPr>
              <a:t>谢谢！</a:t>
            </a:r>
            <a:endParaRPr lang="zh-CN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72033"/>
      </a:dk2>
      <a:lt2>
        <a:srgbClr val="F3F6FB"/>
      </a:lt2>
      <a:accent1>
        <a:srgbClr val="2463EB"/>
      </a:accent1>
      <a:accent2>
        <a:srgbClr val="0F766E"/>
      </a:accent2>
      <a:accent3>
        <a:srgbClr val="667085"/>
      </a:accent3>
      <a:accent4>
        <a:srgbClr val="D9E1EC"/>
      </a:accent4>
      <a:accent5>
        <a:srgbClr val="F3F6FB"/>
      </a:accent5>
      <a:accent6>
        <a:srgbClr val="172033"/>
      </a:accent6>
      <a:hlink>
        <a:srgbClr val="2463EB"/>
      </a:hlink>
      <a:folHlink>
        <a:srgbClr val="0F766E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