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a1c7b18e442e2" /><Relationship Type="http://schemas.openxmlformats.org/officeDocument/2006/relationships/extended-properties" Target="/docProps/app.xml" Id="Rcf04865ff20948fc" /><Relationship Type="http://schemas.openxmlformats.org/officeDocument/2006/relationships/officeDocument" Target="/ppt/presentation.xml" Id="R822e08076e6541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b1803d88841b0"/>
  </p:sldMasterIdLst>
  <p:notesMasterIdLst>
    <p:notesMasterId xmlns:r="http://schemas.openxmlformats.org/officeDocument/2006/relationships" r:id="Rc7155b4663ea4101"/>
  </p:notesMasterIdLst>
  <p:sldIdLst>
    <p:sldId xmlns:r="http://schemas.openxmlformats.org/officeDocument/2006/relationships" id="256" r:id="Raaa81100722b446e"/>
    <p:sldId xmlns:r="http://schemas.openxmlformats.org/officeDocument/2006/relationships" id="257" r:id="R314240bf52554865"/>
    <p:sldId xmlns:r="http://schemas.openxmlformats.org/officeDocument/2006/relationships" id="258" r:id="R92d296d1a4c3429f"/>
    <p:sldId xmlns:r="http://schemas.openxmlformats.org/officeDocument/2006/relationships" id="259" r:id="Rb7a6d9ad6e0f4c32"/>
    <p:sldId xmlns:r="http://schemas.openxmlformats.org/officeDocument/2006/relationships" id="260" r:id="R8a777a1044c44bf8"/>
    <p:sldId xmlns:r="http://schemas.openxmlformats.org/officeDocument/2006/relationships" id="261" r:id="Rcdf390384d2e4c6b"/>
    <p:sldId xmlns:r="http://schemas.openxmlformats.org/officeDocument/2006/relationships" id="262" r:id="R6cd0c9a72c7148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b1803d88841b0" /><Relationship Type="http://schemas.openxmlformats.org/officeDocument/2006/relationships/theme" Target="/ppt/theme/theme1.xml" Id="R60c7a743879f42b0" /><Relationship Type="http://schemas.openxmlformats.org/officeDocument/2006/relationships/notesMaster" Target="/ppt/notesMasters/notesMaster1.xml" Id="Rc7155b4663ea4101" /><Relationship Type="http://schemas.openxmlformats.org/officeDocument/2006/relationships/presProps" Target="/ppt/presProps.xml" Id="R52d2883bfca54d4a" /><Relationship Type="http://schemas.openxmlformats.org/officeDocument/2006/relationships/viewProps" Target="/ppt/viewProps.xml" Id="R8e536328ce754011" /><Relationship Type="http://schemas.openxmlformats.org/officeDocument/2006/relationships/tableStyles" Target="/ppt/tableStyles.xml" Id="Radf500961d7f4c31" /><Relationship Type="http://schemas.openxmlformats.org/officeDocument/2006/relationships/slide" Target="/ppt/slides/slide1.xml" Id="Raaa81100722b446e" /><Relationship Type="http://schemas.openxmlformats.org/officeDocument/2006/relationships/slide" Target="/ppt/slides/slide2.xml" Id="R314240bf52554865" /><Relationship Type="http://schemas.openxmlformats.org/officeDocument/2006/relationships/slide" Target="/ppt/slides/slide3.xml" Id="R92d296d1a4c3429f" /><Relationship Type="http://schemas.openxmlformats.org/officeDocument/2006/relationships/slide" Target="/ppt/slides/slide4.xml" Id="Rb7a6d9ad6e0f4c32" /><Relationship Type="http://schemas.openxmlformats.org/officeDocument/2006/relationships/slide" Target="/ppt/slides/slide5.xml" Id="R8a777a1044c44bf8" /><Relationship Type="http://schemas.openxmlformats.org/officeDocument/2006/relationships/slide" Target="/ppt/slides/slide6.xml" Id="Rcdf390384d2e4c6b" /><Relationship Type="http://schemas.openxmlformats.org/officeDocument/2006/relationships/slide" Target="/ppt/slides/slide7.xml" Id="R6cd0c9a72c7148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1d2dbbcc5d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a62d618625401d" /><Relationship Type="http://schemas.openxmlformats.org/officeDocument/2006/relationships/notesMaster" Target="/ppt/notesMasters/notesMaster1.xml" Id="R9b8c0d785e5d49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01c7a4fb5d48c0" /><Relationship Type="http://schemas.openxmlformats.org/officeDocument/2006/relationships/notesMaster" Target="/ppt/notesMasters/notesMaster1.xml" Id="Rc1871c0cb4de4b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e51c058b2f4786" /><Relationship Type="http://schemas.openxmlformats.org/officeDocument/2006/relationships/notesMaster" Target="/ppt/notesMasters/notesMaster1.xml" Id="R2de5631b46884c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fb3dec7ff4212" /><Relationship Type="http://schemas.openxmlformats.org/officeDocument/2006/relationships/notesMaster" Target="/ppt/notesMasters/notesMaster1.xml" Id="R3694e9027abb4b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4630dfef04cee" /><Relationship Type="http://schemas.openxmlformats.org/officeDocument/2006/relationships/notesMaster" Target="/ppt/notesMasters/notesMaster1.xml" Id="Rf99538b39a8144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9043b96f70454b" /><Relationship Type="http://schemas.openxmlformats.org/officeDocument/2006/relationships/notesMaster" Target="/ppt/notesMasters/notesMaster1.xml" Id="Rc7c37e542ca941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1e9813d56849c1" /><Relationship Type="http://schemas.openxmlformats.org/officeDocument/2006/relationships/notesMaster" Target="/ppt/notesMasters/notesMaster1.xml" Id="R66a764d83b1c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封面说明项目目标：不是做普通聊天，而是基于公开资料搭建可追溯问答系统。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LangChain RAG tutorial: https://python.langchain.com/docs/tutorials/rag/</a:t>
            </a:r>
          </a:p>
          <a:p xmlns:a="http://schemas.openxmlformats.org/drawingml/2006/main">
            <a:r>
              <a:t>- Lewis et al., Retrieval-Augmented Generation: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强调用户要求：所有数据联网搜索，不能自己创造。因此知识库改成公开资料整理版。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LangChain RAG tutorial: https://python.langchain.com/docs/tutorials/rag/</a:t>
            </a:r>
          </a:p>
          <a:p xmlns:a="http://schemas.openxmlformats.org/drawingml/2006/main">
            <a:r>
              <a:t>- Chroma docs: https://docs.trychroma.com/docs/overview/introduction</a:t>
            </a:r>
          </a:p>
          <a:p xmlns:a="http://schemas.openxmlformats.org/drawingml/2006/main">
            <a:r>
              <a:t>- DeepSeek API docs: https://api-docs.deepseek.com/</a:t>
            </a:r>
          </a:p>
          <a:p xmlns:a="http://schemas.openxmlformats.org/drawingml/2006/main">
            <a:r>
              <a:t>- Streamlit docs: https://docs.streamlit.io/develop/api-reference/widgets/st.text_input</a:t>
            </a:r>
          </a:p>
          <a:p xmlns:a="http://schemas.openxmlformats.org/drawingml/2006/main">
            <a:r>
              <a:t>- Lewis et al., Retrieval-Augmented Generation: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用这一页讲清系统架构：资料、切分、向量库、检索、生成。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LangChain RAG tutorial: https://python.langchain.com/docs/tutorials/rag/</a:t>
            </a:r>
          </a:p>
          <a:p xmlns:a="http://schemas.openxmlformats.org/drawingml/2006/main">
            <a:r>
              <a:t>- Chroma docs: https://docs.trychroma.com/docs/overview/introduction</a:t>
            </a:r>
          </a:p>
          <a:p xmlns:a="http://schemas.openxmlformats.org/drawingml/2006/main">
            <a:r>
              <a:t>- DeepSeek API docs: https://api-docs.deepseek.com/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说明三份代码分别对应完整流水线、离线测试和展示界面。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LangChain RAG tutorial: https://python.langchain.com/docs/tutorials/rag/</a:t>
            </a:r>
          </a:p>
          <a:p xmlns:a="http://schemas.openxmlformats.org/drawingml/2006/main">
            <a:r>
              <a:t>- Streamlit docs: https://docs.streamlit.io/develop/api-reference/widgets/st.text_input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解释为什么测试集中必须包含文档外问题，这是RAG项目的关键。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evaluation files: outputs/evaluation_results.csv and 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总结测试结果：RAG不是回答更长，而是回答更有依据。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evaluation files: outputs/evaluation_results.csv and 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最后用失败案例收束，体现独立思考和后续优化。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LangChain retrieval concepts: https://python.langchain.com/docs/concepts/retrieval/</a:t>
            </a:r>
          </a:p>
          <a:p xmlns:a="http://schemas.openxmlformats.org/drawingml/2006/main">
            <a:r>
              <a:t>- DeepSeek API docs: https://api-docs.deepseek.com/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b2ce20c874d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b27684cf5e4bea" /><Relationship Type="http://schemas.openxmlformats.org/officeDocument/2006/relationships/slideLayout" Target="/ppt/slideLayouts/slideLayout2.xml" Id="R73bba742b144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bba742b144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a7bb06ca643f0" /><Relationship Type="http://schemas.openxmlformats.org/officeDocument/2006/relationships/image" Target="/ppt/media/image.png" Id="R5f93bcf9d413472f" /><Relationship Type="http://schemas.openxmlformats.org/officeDocument/2006/relationships/notesSlide" Target="/ppt/notesSlides/notesSlide1.xml" Id="R02b956766bb2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c559e231244054" /><Relationship Type="http://schemas.openxmlformats.org/officeDocument/2006/relationships/image" Target="/ppt/media/image2.png" Id="Re4163adfdb854952" /><Relationship Type="http://schemas.openxmlformats.org/officeDocument/2006/relationships/notesSlide" Target="/ppt/notesSlides/notesSlide2.xml" Id="R6e3593a1d81e45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a5404c461c40d6" /><Relationship Type="http://schemas.openxmlformats.org/officeDocument/2006/relationships/image" Target="/ppt/media/image3.png" Id="R49e93bd2d8e84e8e" /><Relationship Type="http://schemas.openxmlformats.org/officeDocument/2006/relationships/notesSlide" Target="/ppt/notesSlides/notesSlide3.xml" Id="R53dbea1b2542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b40b5bb5574b5c" /><Relationship Type="http://schemas.openxmlformats.org/officeDocument/2006/relationships/image" Target="/ppt/media/image4.png" Id="R8e95afb578bc46b0" /><Relationship Type="http://schemas.openxmlformats.org/officeDocument/2006/relationships/notesSlide" Target="/ppt/notesSlides/notesSlide4.xml" Id="R272767efedfc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2e8afab0e4a30" /><Relationship Type="http://schemas.openxmlformats.org/officeDocument/2006/relationships/image" Target="/ppt/media/image5.png" Id="R54ad0d6d1f7347bf" /><Relationship Type="http://schemas.openxmlformats.org/officeDocument/2006/relationships/notesSlide" Target="/ppt/notesSlides/notesSlide5.xml" Id="Rf8c5bbc39e72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b20c198cf242d7" /><Relationship Type="http://schemas.openxmlformats.org/officeDocument/2006/relationships/image" Target="/ppt/media/image6.png" Id="R3a4c59ec5f18413a" /><Relationship Type="http://schemas.openxmlformats.org/officeDocument/2006/relationships/notesSlide" Target="/ppt/notesSlides/notesSlide6.xml" Id="R69e74a3837a841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25193349146c3" /><Relationship Type="http://schemas.openxmlformats.org/officeDocument/2006/relationships/image" Target="/ppt/media/image7.png" Id="R7d8af873add54b3a" /><Relationship Type="http://schemas.openxmlformats.org/officeDocument/2006/relationships/notesSlide" Target="/ppt/notesSlides/notesSlide7.xml" Id="Rd9f25467e61d4e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3bcf9d413472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BB8F0-773F-49BE-9A60-FC780088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6B54-0E87-43BF-A520-D08E8A4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0F5B3-75F8-4D6C-BC5B-61E4A6E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RAG REPORT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5D752-9ABC-48ED-B8EB-E812F81D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RAG知识库问答助手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76959-1AE0-41E1-B757-9FBBE935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公开联网资料版：用检索证据约束大模型回答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15DDF-6C79-483D-87D0-0CC6AED7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7CE7F-A0C9-47D6-BBE3-8D1D83EF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先检索，再回答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BD3E0-25AF-4FD6-A982-94DBBA0F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74337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63adfdb85495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C22FC-E3E8-4EDA-BD45-B8A05D11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E942E-E907-4CE2-92ED-3EE88C9B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01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B099-00DD-48E5-B494-DBDD1E2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3A0F7-25F8-4A89-8577-141F6D62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AF2F7-4CC8-4D66-8E28-E3A89C9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DADEB-FA1E-4CE2-AB21-2E5B383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知识库只使用公开联网资料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BB201-A78E-4B4E-9C1D-B4815E0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所有内容来自官方文档和论文，并在知识库中保留来源 URL。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DF928-3868-4A5D-A0C7-6141B463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732C0-D8BE-4B91-8FA4-0C7AE80F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FE9DA-9C5B-4EC7-8EBE-8E473D5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B2EF-BDB5-4959-AA39-C1FCE494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FBBD1-F9E8-4BC5-88C0-448CDA36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FF504-C259-4FE2-8D2F-39ECCD0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72BCE-84EF-4D2F-B2C6-A261FD80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6FB6B-192B-44F6-84D7-0D6DB25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LangChain / Chroma /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DeepSeek / Streamlit / RAG论文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353CB-8F5A-4F85-BA81-79FD8974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15BEC-9EDB-44C3-BD2C-9B256E76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EB703-E1D1-4DEB-A954-F322E39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EC70A-6C87-4BCE-9967-EEEDC744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9E96A-58AD-4A49-A60A-3CA8F0E3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06317-9A8C-4F1A-9073-8EAACCE2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CC5B2-746E-4CA5-AF54-2FD1559A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整理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C3EE8-D1C7-481B-B685-859E2CE5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按概念、组件、参数、测试重新组织为可检索文本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A251B0-4549-487A-AA14-C67F7E32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79483-1952-49DC-8D6A-EBF5F1D7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28956B-0F33-40F6-A249-1A022B2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58081-7F39-4A50-92A4-653D3AE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45CA4-24A9-4765-94D4-9BE2DF5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5C832-23F0-4E10-9D75-4246851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6A5359-14F0-41A5-AC49-5F50435A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约束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9275C-0168-4218-96F6-48C4EA6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不编造课程细节；不写个人隐私信息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AC33E7-6FCD-4E21-86AA-0AB2CE6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046059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93bd2d8e84e8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7344A-5C79-4BE9-AA2F-906251FE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0AC7F-D7F9-4A78-A0D2-8CF5EDBC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02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EFB2E-4793-4985-B3DD-35557EC2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6E7BD-520E-4832-988D-EA4DD9F1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6364C-1B22-4187-B958-88894EE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0AFA4-A609-43E3-92C9-E4C97B71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RAG流程把资料变成可检索证据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FF97D-5FA8-4726-ADD5-575A682A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公开网页资料经过切分和向量化后，成为大模型回答前的外部依据。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3921E-E0C7-40E2-B9F0-AB123F10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BD12B-00FB-45D8-925B-7AADCC7E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FC6E7-1B3F-46AF-94B4-7D5A8A92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685E8-EB59-47BE-9DFC-D63D4D0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3DE63-7876-4087-ACEF-1E855763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EE5E6-10A4-4824-B069-2E7BF1DE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2CA2B-659C-44A1-88D0-3BA181CA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98121-F937-4CD6-A668-C8A5331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公开资料加载，保留来源和章节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B23F1-031D-4E37-B848-41764640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6E7BD-D405-40AC-80F3-02309826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0B036-BA9B-4294-83A0-B38CFED9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E007A-78CC-4BF9-883E-FF1C7393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00675-DB0E-46CE-B36C-85B7DC60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7BFD4-9685-477B-A615-488CB222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EC408-7717-4D99-B1BA-10B00DD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检索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70FF7-86D9-4131-A350-FD12FD0C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chunk切分 +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embedding，Chroma向量库召回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2CD08-19B3-4059-9D72-114DA15A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703A9-928B-4B30-8DF5-194767B1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B798C-9AFA-48E9-8D1A-35FCF8D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65DAC-5B2D-4FA9-83B1-9E9D4C32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81C1AA-0862-4892-BA55-F12359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6BF2E2-61FA-4497-8C33-3DEB74A4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CD0AA-713D-4BB8-8F46-D770F30D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CF8E5-50DC-4909-9C2B-87EAA6C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DeepSeek低温度回答，资料不足就拒答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C95BD7-8FEC-4D6A-A543-135002E6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856901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5afb578bc46b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1F975-9F67-47EC-97D9-F05D465A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582D4-C384-4FD7-A597-539119DB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03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EDAD3-5D2A-48AF-B902-4519FD4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E1647-E782-47A8-BD10-2301CE6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0A418-D9FF-47A8-96D8-350209C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20613-CC36-41D0-BDA5-598B617E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代码实现覆盖完整RAG流水线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6948F-51D1-4447-9716-9DD406E9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正式版用 LangChain；离线版用于无 API Key 环境下复现测试结果。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F95CF-554C-4DF6-9633-5DF7C17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0EF85-F282-4EC2-A226-F4B0EC90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A8CE6-5D3F-4FC1-B1A1-EC9D791F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FA2A1-2A19-466B-9C36-EA36753D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BCB44-2C08-4D0E-86B8-8DCCF1D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8463E-4A63-4897-8AB5-5E7F9298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C1A72-DA62-4E45-8590-E24C1E12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rag_pipeline.py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BF87F-3CC7-4140-A131-4F72255A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TextLoader / Splitter /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Chroma / RetrievalQA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7E356-78A4-4BA8-BBD9-867E099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86FE4-7BC7-4896-90DE-966ACA2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AA39B-3985-4601-9EBB-1BEF1A18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F78B3-91D8-45AE-8749-CFF6973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8C869-A2A1-4BED-9B54-9DF01322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F696F-3885-4966-870F-07AC1C8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2679B-7DDE-45C9-9D37-E86B220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offline_demo.py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28329-7725-4FAE-AFAE-EDB178E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生成5题对比结果，验证知识边界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797EB-1F91-4C74-90B2-694933CA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3AB11-4EF1-4B83-BE86-974A69C3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887CD-B4FA-4542-888E-EC29156D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454FD-4963-4CCA-943C-4A5C12A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8400D-00EC-4C57-A719-E7D7B69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E4AF8-4BDA-4983-A3F6-A59AABE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2FEB6-08C1-4515-8FF9-61C04FE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app.py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7B4FFE-01F2-49C5-B630-ADC9494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Streamlit输入框和侧边栏调参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8EE78-20F6-430C-B641-334DA298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75301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d0d6d1f7347b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83675-8702-4972-87A7-ED0F5AA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7C27B-3368-499A-B926-12988BE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04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7AB6E-1F56-4013-B6EC-2844089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E3016-4241-4107-BD46-6969C78E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AFB2E-AF33-4A78-B8B9-603E7C74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0E8AE-03A1-4E63-A6FE-D1D6CDBE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测试集同时检查回答能力和边界意识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511DB-2384-47DD-A70B-74034B3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3个文档内问题验证检索质量；2个文档外问题验证不编造。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8E94B-A674-498F-9D11-17B16880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414C9-BA73-4517-BAF0-DD025E0E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FF9F3-0FA7-49EF-9BD7-57125ACC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18533-DDDC-4577-8304-170045F3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文档内问题：RAG流程 / 文本切分 / Chroma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1A838-958C-46BC-ABE6-E9A2C76E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公开资料中有依据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A0416-1784-4CF0-8F0A-43607813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26780-4118-41F3-886D-099597E9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10903-7CF1-4629-B8A1-A6E001B3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59B9A-E9A3-4D07-866C-26EB3C6D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文档外问题：教师地点 / 学号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AC310-AD05-43FB-AD3E-F8961584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知识库中无依据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DDBC6-1560-456B-9772-981DD6E0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0F933-763C-40FC-897B-8129A35E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4FA80-92AC-4B90-B3B8-F6245412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ECAAB-2840-40E3-9B88-4C354AF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对比记录：普通LLM vs 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E3F2E-3CD4-4B42-A5D7-DDD92BF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输出CSV和Markdown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56D65-E816-46EF-97CD-BC383DF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28388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c59ec5f18413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D7A0-64E0-402C-A452-9D6DFC7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3725-119C-4E39-9879-EA263816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05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E0C92-E035-4401-95E9-2224D8B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06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AE53D-50E1-49F9-8C21-08FACF0C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58CAB-2DE5-44D6-84EE-D7D93DA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E5CBC-132D-447A-A72F-E3BFE2F5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RAG的优势是具体、可追溯、有边界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5AF47-CBCA-4F53-A3F8-7E876A3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同样问题下，RAG会把答案限定到检索证据中。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B646-02C8-48B9-915F-D15916D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DFDDD-2D0C-4AF6-AA88-4A9F81CA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06ED7-5656-4DB6-B9B9-70B03BE5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0F8DA-4E9C-4D95-91E3-AEDD235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E2EF6-EDDA-4DB9-9D29-868EF6F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C7F37-2DF3-4961-9696-9443377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A73BE-15D2-4287-95B6-88401D6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更具体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C0D84-A85D-4D99-910C-B058809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说明加载、切分、向量化、检索和生成流程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607CF-939D-407B-A559-645CADC5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5DA61-DA55-4C10-990B-DD1B5EF1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AC3FF-13DA-4E04-87AE-CFBC2A40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47802-C7B4-4845-BE55-4A4A127F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C44DA-C8A6-4A06-AF8A-FC27FDFC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ABB9A-29F2-41D5-B5DD-25BA58C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5AC79-EF30-4D79-905E-4F324343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可追溯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32CAB-730A-4502-A9F2-3929FF48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Chroma字段回答包含 id / document /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06E46-43F6-4B8A-BC1C-E3D39CAE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28499-A52C-4E69-B2AA-360CBB5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D952C-85F9-40E9-BE83-5DD87FEC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DF496-6407-445D-AF81-8BB7AEC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91CFB-89D9-4FF8-AF9F-104C09F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07C36-ECC3-4ACF-9994-FCFCB784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27A14-5FDD-4AE2-93C5-BD0C00F7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有边界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50A5B-55BE-4AD8-8F99-62F153A9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文档外问题明确返回：知识库中没有依据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76DA9-D0B0-4ED1-BCD5-5B7924A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20298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af873add54b3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B773E-7D86-4DD2-8ED4-4A4CC09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9DEAA-259D-4588-BDDD-307F5050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06 REFLECTION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06FFA-BF3D-4BA1-B37D-160C61EF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07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06E9-8B79-4C7C-B8B0-256D4819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0795F-B0FB-4F5D-9102-BDAD4219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AB036-4D9D-4790-B333-A41F903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失败案例推动下一轮改进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1DC14-289A-49EE-95DE-C66C4FD3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检索不到、答错、强行回答，都能转化为工程优化项。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901B5-AF55-474A-96F3-F1211E20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7D9B8-125E-40C9-BBD7-C96A23A4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5B1AC-84A0-45B5-B23B-CB20C2A0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2E5A3-9058-409A-9848-0475C88D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8100E-17AC-4542-81C3-F9EF8BDE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F9B75-7E31-4DC4-8956-79CE597B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C187C-D3D4-4A6D-9619-072C023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检索不到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47175-3423-4497-BF49-E4E58A96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query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rewrite；中文embedding；调整overlap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F67E5-195D-48F6-B946-41BDCCD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3899C-DC55-4796-8733-D97C252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D3614-8B74-4022-B57F-2F7F698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C7F6F-1057-44B7-AE73-1269FE12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DD2A4-7153-4DDB-9BDE-0CCF39DC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13C8A-3D3F-44D9-8FC7-C27D4939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EFB38-F220-46C3-88EE-E98C027C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答错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8E5B8-2BA1-4506-8F8E-793FCFEA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降低temperature；来源编号；答案自检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AB224-E06B-4CA8-A4C2-09B26767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63E3F-4A07-469C-B027-3C6C347A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E31D3-1190-46AB-9CD5-F5DB99D4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C9892-F835-45F2-81C6-84126CE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A0740-127C-41C5-ADE9-7B17160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08430-7CD9-4314-809A-46B46D6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C6A32-6108-4F2E-B80D-F5C5594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下一步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991217-65D1-4737-9B2A-18BC53D5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网页抓取 / rerank / 真实API日志 /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自动评测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20240-9D38-4923-BBE5-065AF55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083582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2026-05-31T06:39:36.9930000Z</dcterms:created>
  <dcterms:modified xsi:type="dcterms:W3CDTF">2026-05-31T06:39:36.9930000Z</dcterms:modified>
</coreProperties>
</file>